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WCSS by Number of Clusters (K)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WCSS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18219.04</c:v>
                </c:pt>
                <c:pt idx="1">
                  <c:v>16239.28</c:v>
                </c:pt>
                <c:pt idx="2">
                  <c:v>14584.11</c:v>
                </c:pt>
                <c:pt idx="3">
                  <c:v>13615.54</c:v>
                </c:pt>
                <c:pt idx="4">
                  <c:v>12978.56</c:v>
                </c:pt>
                <c:pt idx="5">
                  <c:v>12466.37</c:v>
                </c:pt>
                <c:pt idx="6">
                  <c:v>12063.29</c:v>
                </c:pt>
                <c:pt idx="7">
                  <c:v>11619.04</c:v>
                </c:pt>
                <c:pt idx="8">
                  <c:v>11073.17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Silhouette Score (higher is better)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0.2985</c:v>
                </c:pt>
                <c:pt idx="1">
                  <c:v>0.2245</c:v>
                </c:pt>
                <c:pt idx="2">
                  <c:v>0.1895</c:v>
                </c:pt>
                <c:pt idx="3">
                  <c:v>0.1916</c:v>
                </c:pt>
                <c:pt idx="4">
                  <c:v>0.1766</c:v>
                </c:pt>
                <c:pt idx="5">
                  <c:v>0.1492</c:v>
                </c:pt>
                <c:pt idx="6">
                  <c:v>0.1471</c:v>
                </c:pt>
                <c:pt idx="7">
                  <c:v>0.1541</c:v>
                </c:pt>
                <c:pt idx="8">
                  <c:v>0.1534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Davies-Bouldin Index (lower is better)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Davies-Bouldin Index</c:v>
                </c:pt>
              </c:strCache>
            </c:strRef>
          </c:tx>
          <c:spPr>
            <a:solidFill>
              <a:srgbClr val="E8AA42"/>
            </a:solidFill>
            <a:ln w="38100" cap="flat">
              <a:solidFill>
                <a:srgbClr val="E8AA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A42"/>
              </a:solidFill>
              <a:ln w="9525" cap="flat">
                <a:solidFill>
                  <a:srgbClr val="E8AA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1.3738</c:v>
                </c:pt>
                <c:pt idx="1">
                  <c:v>1.7876</c:v>
                </c:pt>
                <c:pt idx="2">
                  <c:v>1.7779</c:v>
                </c:pt>
                <c:pt idx="3">
                  <c:v>1.7886</c:v>
                </c:pt>
                <c:pt idx="4">
                  <c:v>1.8365</c:v>
                </c:pt>
                <c:pt idx="5">
                  <c:v>1.9404</c:v>
                </c:pt>
                <c:pt idx="6">
                  <c:v>1.978</c:v>
                </c:pt>
                <c:pt idx="7">
                  <c:v>1.7362</c:v>
                </c:pt>
                <c:pt idx="8">
                  <c:v>1.7267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E2761"/>
                </a:solidFill>
                <a:latin typeface="Calibri"/>
              </a:rPr>
              <a:t>Silhouette Score by Algorithm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K-Means</c:v>
                  </c:pt>
                  <c:pt idx="1">
                    <c:v>Hierarchical</c:v>
                  </c:pt>
                  <c:pt idx="2">
                    <c:v>Gaussian
Mixture</c:v>
                  </c:pt>
                  <c:pt idx="3">
                    <c:v>DBSCAN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0.2985</c:v>
                </c:pt>
                <c:pt idx="1">
                  <c:v>0.2445</c:v>
                </c:pt>
                <c:pt idx="2">
                  <c:v>0.2767</c:v>
                </c:pt>
                <c:pt idx="3">
                  <c:v>0.2493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6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754880"/>
            <a:ext cx="4023360" cy="40233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ML-M06  ·  CUSTOMER PERSONALITY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Model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for Marketing Strategy &amp; Customer Retention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Fakhr Ul Islam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 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03-08-2026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Customer Data Into Actionable Segments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Develop, evaluate, and compare multiple unsupervised clustering algorithms to uncover meaningful customer segments that support marketing strategy, retention, and personalized recommendations — built on the cleaned Customer Personality Analysis dataset.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4645152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Dataset — customer demographics, spending, and campaign response history.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54533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meaningful clustering features &amp; scale them correctly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3865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2331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optimal number of customer segments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1729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31181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clustering quality with multiple metrics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9593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39044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four algorithms and choose a production model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745736"/>
            <a:ext cx="365760" cy="365760"/>
          </a:xfrm>
          <a:prstGeom prst="ellipse">
            <a:avLst/>
          </a:prstGeom>
          <a:solidFill>
            <a:srgbClr val="E8AA42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69087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reusable, deployable segmentation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DATASET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19656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819656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971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cleanup (ID removed)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819656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2971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Income values — filled with median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819656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971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found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370832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non-informative ID column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24 missing Income values with the column median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Dt_Customer to datetime to derive tenure, then dropped 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types and confirmed zero duplicate records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New Features Built From Raw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88366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minus Year_Birth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12280" y="160020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Total_Spending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12280" y="188366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spend across wine, fruit, meat, fish, sweets &amp; gold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7063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Total_Children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3000" y="30540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Kidhome + Teenhome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8163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277063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Family_Size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12280" y="30540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Total_Children + 2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94106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Purchase_Frequency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422452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Catalog + Store purchases combined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94106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Accepted_Campaigns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422452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campaigns 1–5 accepted + final Response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572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51114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Customer_Tenure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43000" y="53949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Dt_Customer, relative to 01-01-2026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&amp;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&amp; Scaling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 Selected for Clustering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20574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0574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Total_Spending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25146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514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718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Customer_Tenure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29718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9718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Family_Size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Total_Children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34290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4290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Purchase_Frequency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86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Accepted_Campaigns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38862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886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NumWebPurchases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434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NumStorePurchases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29000" y="434340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43434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NumCatalogPurchases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1600200"/>
            <a:ext cx="48920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7830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Check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Family_Size  ↔  Total_Children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2542032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1.00 — perfectly correlated (Family_Size is derived directly from Total_Children). Flagged for awareness; both retained for interpretability.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343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Strategy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470916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fitted &amp; used for all clustering models (mean 0, unit variance)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fitted in parallel for comparison, saved for downstream use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scalers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selected feature list were serialized into a reusable preprocessing pipeline (.pkl)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EXPLORATORY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 Before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73936"/>
            <a:ext cx="2606040" cy="10332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by PC1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773936"/>
            <a:ext cx="2606040" cy="10332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788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by PC2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773936"/>
            <a:ext cx="2606040" cy="10332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2788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Accepted_Campaigns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773936"/>
            <a:ext cx="2606040" cy="10332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788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Family_Size / Total_Children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256032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Generated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096512"/>
            <a:ext cx="10424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 histograms &amp; boxplots for all 12 selected features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correlation heatmap and a 5-feature pair plot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2-component PCA scatter for early visual separation checks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outlier counts saved per feature for downstream review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OPTIMAL NUMBER OF CLUSTERS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Method: WCSS vs 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66760" y="2103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falls sharply from K=2 to K=4, then flattens — the classic elbow signal.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6676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66760" y="3474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366760" y="44348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single-step % reduction in WCSS occurs at K=3 (10.87%).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&amp; 7 — CLUSTER QUALITY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Silhouette Score vs. Davies-Bouldin Index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440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691640"/>
          <a:ext cx="5440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agree: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gives the highest Silhouette Score (0.2985) and the lowest Davies-Bouldin Index (1.3738).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8–12 — MODEL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Algorithms, Head to Head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691640"/>
          <a:ext cx="4663440" cy="237744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Mixture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995160" y="425196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7223760" y="4434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ALGORITHM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223760" y="46817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223760" y="519379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Silhouette Score of all candidates evaluated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*DBSCAN found 3 clusters but flagged 1,896 of 2,240 points (85%) as noise — too sparse for reliable business segmentation.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13 — CLUSTER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Distinct Customer Segments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9443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Income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$37,699.75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Store Purchases / mo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Catalog Purchases / mo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0" y="4480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83680" y="29443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Income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55548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$70,103.35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Store Purchases / mo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5548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Catalog Purchases / mo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555480" y="4480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15 — STABILITY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Segmentation Reproducible?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19656"/>
            <a:ext cx="3520440" cy="13533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 across 5 random seeds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819656"/>
            <a:ext cx="3520440" cy="13533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0.293–0.299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0" y="31546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range across 5 bootstrap samples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819656"/>
            <a:ext cx="3520440" cy="13533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92440" y="31546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base K-Means model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69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Tested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462272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K-Means with 5 different random states (42, 100, 200, 300, 500) and compared labels to a base run using Adjusted Rand Index — every run scored a perfect 1.00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K-Means on 5 bootstrap resamples of the data — Silhouette Score stayed within a tight 0.006 band (0.293–0.299)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2194560"/>
            <a:ext cx="5120640" cy="51206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K-Means, K = 2, Ready for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0.2985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41B47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7373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1.3738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41B47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7373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(ARI)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0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41B4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17373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23544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Segments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329184" cy="329184"/>
          </a:xfrm>
          <a:prstGeom prst="ellipse">
            <a:avLst/>
          </a:prstGeom>
          <a:solidFill>
            <a:srgbClr val="E8AA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657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 — prioritize for premium offers, early access, and loyalty rewards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329184" cy="329184"/>
          </a:xfrm>
          <a:prstGeom prst="ellipse">
            <a:avLst/>
          </a:prstGeom>
          <a:solidFill>
            <a:srgbClr val="E8AA4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251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— target with value/discount-driven campaigns to lift purchase frequency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329184" cy="329184"/>
          </a:xfrm>
          <a:prstGeom prst="ellipse">
            <a:avLst/>
          </a:prstGeom>
          <a:solidFill>
            <a:srgbClr val="E8AA4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8463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channel-level purchase counts to fine-tune web vs. store vs. catalog targeting per segment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329184" cy="329184"/>
          </a:xfrm>
          <a:prstGeom prst="ellipse">
            <a:avLst/>
          </a:prstGeom>
          <a:solidFill>
            <a:srgbClr val="E8AA4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486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54406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stability checks periodically as new customer data accumulates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Module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420624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18 Tasks Completed Successfully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34290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models, scalers, reports &amp; visualizations saved and ready for deployment.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2026-08-03T09:53:11Z</dcterms:created>
  <dcterms:modified xsi:type="dcterms:W3CDTF">2026-08-03T09:53:11Z</dcterms:modified>
</cp:coreProperties>
</file>